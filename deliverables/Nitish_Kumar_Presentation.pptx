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82296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0"/>
            <a:ext cx="3703320" cy="6858000"/>
          </a:xfrm>
          <a:prstGeom prst="rect">
            <a:avLst/>
          </a:prstGeom>
          <a:solidFill>
            <a:srgbClr val="321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03920" y="0"/>
            <a:ext cx="82296" cy="685800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COTIVITI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INTERN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7498079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Clinical Natural Language</a:t>
            </a:r>
          </a:p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Technology for Health Care</a:t>
            </a:r>
          </a:p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E8DEF6"/>
                </a:solidFill>
                <a:latin typeface="Calibri"/>
              </a:rPr>
              <a:t>Grounding NLP, Computer Vision &amp; Multimodal AI in Radiology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7315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Nitish Kumar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D9C7F0"/>
                </a:solidFill>
                <a:latin typeface="Calibri"/>
              </a:rPr>
              <a:t>San Jose State University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9A6D8"/>
                </a:solidFill>
                <a:latin typeface="Calibri"/>
              </a:rPr>
              <a:t>Topic 1  ·  Report + 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011680"/>
            <a:ext cx="30175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4007A"/>
                </a:solidFill>
                <a:latin typeface="Calibri"/>
              </a:rPr>
              <a:t>POC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Chest X-Ray Report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Generation System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E8DEF6"/>
                </a:solidFill>
                <a:latin typeface="Calibri"/>
              </a:rPr>
              <a:t>DenseNet-121 + Transformer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E8DEF6"/>
                </a:solidFill>
                <a:latin typeface="Calibri"/>
              </a:rPr>
              <a:t>RAG Clinical Agent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E8DEF6"/>
                </a:solidFill>
                <a:latin typeface="Calibri"/>
              </a:rPr>
              <a:t>FastAPI · Gradio · Docker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THE OPPORTUNITY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80% of Health Data Is Unstructured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A5A5A"/>
                </a:solidFill>
                <a:latin typeface="Calibri"/>
              </a:rPr>
              <a:t>The details that matter (diagnoses, procedures, and the proof behind every claim) sit in free-text notes, scanned faxes, and images. Computers cannot search, code, or audit them directly.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6974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82296" cy="23774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889504"/>
            <a:ext cx="2286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4007A"/>
                </a:solidFill>
                <a:latin typeface="Calibri"/>
              </a:rPr>
              <a:t>Text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Physician notes, discharge summaries, pathology reports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2743200"/>
            <a:ext cx="26974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10712" y="2743200"/>
            <a:ext cx="82296" cy="237744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6744" y="2889504"/>
            <a:ext cx="2286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Scanned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Faxed orders and referrals digitized with OCR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4" y="2743200"/>
            <a:ext cx="26974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2784" y="2743200"/>
            <a:ext cx="82296" cy="237744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2889504"/>
            <a:ext cx="2286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9E8F"/>
                </a:solidFill>
                <a:latin typeface="Calibri"/>
              </a:rPr>
              <a:t>Images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X-ray, CT and MRI read by computer vision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34856" y="2743200"/>
            <a:ext cx="26974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34856" y="2743200"/>
            <a:ext cx="82296" cy="2377440"/>
          </a:xfrm>
          <a:prstGeom prst="rect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0888" y="2889504"/>
            <a:ext cx="2286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E07A00"/>
                </a:solidFill>
                <a:latin typeface="Calibri"/>
              </a:rPr>
              <a:t>Codes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The clean ICD / CPT codes payment integrity needs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B2E83"/>
                </a:solidFill>
                <a:latin typeface="Calibri"/>
              </a:rPr>
              <a:t>Clinical NLP turns all four into structured data. That is the foundation for accurate coding, payment integrity, and quality measurement.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TRENDS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Past → Present →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611880" cy="86868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3246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PAST   2000-2017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Rules and Word Lists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14600"/>
            <a:ext cx="3611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514600"/>
            <a:ext cx="82296" cy="310896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60904"/>
            <a:ext cx="32004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cTAKES, MetaMap map text to UMLS / SNOMED / ICD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Hand-written rules and medical word lists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Accurate, but fragile and costly to update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86868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27632"/>
            <a:ext cx="3246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PRESENT   2018-2023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Learning from Big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514600"/>
            <a:ext cx="3611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514600"/>
            <a:ext cx="82296" cy="310896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2" y="2660904"/>
            <a:ext cx="32004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4007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BioBERT, ClinicalBERT, GatorTron models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Image models near expert level: DenseNet, ViT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Good at finding terms and hiding patient IDs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554480"/>
            <a:ext cx="3611880" cy="86868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627632"/>
            <a:ext cx="3246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FUTURE   2024 on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Generative and Multimodal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514600"/>
            <a:ext cx="3611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2514600"/>
            <a:ext cx="82296" cy="310896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2660904"/>
            <a:ext cx="32004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9E8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Clinical LLMs (Med-PaLM 2) and LMMs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One model reads an X-ray and drafts the report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RAG keeps answers grounded, cuts made-up facts</a:t>
            </a:r>
          </a:p>
        </p:txBody>
      </p:sp>
      <p:sp>
        <p:nvSpPr>
          <p:cNvPr id="22" name="Chevron 21"/>
          <p:cNvSpPr/>
          <p:nvPr/>
        </p:nvSpPr>
        <p:spPr>
          <a:xfrm>
            <a:off x="4224528" y="1828800"/>
            <a:ext cx="320040" cy="502920"/>
          </a:xfrm>
          <a:prstGeom prst="chevron">
            <a:avLst/>
          </a:prstGeom>
          <a:solidFill>
            <a:srgbClr val="C9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8019288" y="1828800"/>
            <a:ext cx="320040" cy="502920"/>
          </a:xfrm>
          <a:prstGeom prst="chevron">
            <a:avLst/>
          </a:prstGeom>
          <a:solidFill>
            <a:srgbClr val="C9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ANALYSIS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Opportunities &amp; Threats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48640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2296" cy="448056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700784"/>
            <a:ext cx="5074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9E8F"/>
                </a:solidFill>
                <a:latin typeface="Calibri"/>
              </a:rPr>
              <a:t>OPPORTUNITIES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Automated coding: find miscoding and missing documentation at scale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Report drafting from images: faster radiology and pathology turnaround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Traceable AI: RAG shows the exact source behind every answer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More reviewer time: automation handles routine cases so experts focus on the hard ones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48640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554480"/>
            <a:ext cx="82296" cy="448056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700784"/>
            <a:ext cx="5074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4007A"/>
                </a:solidFill>
                <a:latin typeface="Calibri"/>
              </a:rPr>
              <a:t>THREATS AND RISKS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Made-up facts: models can state false things that sound convincing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Privacy: patient data needs HIPAA-grade handling and strict controls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Bias and drift: uneven results, and accuracy drops as coding rules change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Regulation: FDA and payer oversight of clinical AI keeps changing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STRATEGY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Recommended Actions for Cotiviti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554480"/>
            <a:ext cx="914400" cy="1234440"/>
          </a:xfrm>
          <a:prstGeom prst="ellipse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9144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1554480"/>
            <a:ext cx="10058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91640" y="1554480"/>
            <a:ext cx="82296" cy="12344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1700784"/>
            <a:ext cx="9646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Grounded Clinical-NLP Layer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Combine medical language models (ClinicalBERT / GatorTron) with a trusted RAG library of coding policies and guidelines, so every AI code links back to an official source.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971800"/>
            <a:ext cx="914400" cy="1234440"/>
          </a:xfrm>
          <a:prstGeom prst="ellipse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9144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91640" y="2971800"/>
            <a:ext cx="10058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91640" y="2971800"/>
            <a:ext cx="82296" cy="12344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3118104"/>
            <a:ext cx="9646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Multimodal Document Understanding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Use OCR, NLP, and computer vision together to check images and notes against submitted claims, catching gaps that text-only review misses.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389120"/>
            <a:ext cx="914400" cy="1234440"/>
          </a:xfrm>
          <a:prstGeom prst="ellipse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89120"/>
            <a:ext cx="9144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91640" y="4389120"/>
            <a:ext cx="10058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91640" y="4389120"/>
            <a:ext cx="82296" cy="12344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4535424"/>
            <a:ext cx="9646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People in the Loop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Track model versions, watch for drift, and send low-confidence cases to a person, so automation supports expert reviewers and stays compliant.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PROOF OF CONCEPT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Chest X-Ray Report Generation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A5A5A"/>
                </a:solidFill>
                <a:latin typeface="Calibri"/>
              </a:rPr>
              <a:t>A full working demo: from a raw X-ray to a written report and a grounded clinical Q&amp;A agent.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77440"/>
            <a:ext cx="2084831" cy="13716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X-Ray Input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JPEG · PNG · DICOM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7" y="2377440"/>
            <a:ext cx="2084831" cy="137160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1215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DenseNet-121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Vision encoder → 256-d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74334" y="2377440"/>
            <a:ext cx="2084831" cy="13716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4062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Transformer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Decoder → report text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87181" y="2377440"/>
            <a:ext cx="2084831" cy="137160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09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RAG Agent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ClinicalBERT + ChromaDB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00028" y="2377440"/>
            <a:ext cx="2084831" cy="1371600"/>
          </a:xfrm>
          <a:prstGeom prst="rect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56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Clinical Q&amp;A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ReAct reasoning trace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14800"/>
            <a:ext cx="54864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114800"/>
            <a:ext cx="82296" cy="196596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261104"/>
            <a:ext cx="507492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What It Shows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Computer vision plus NLP writes the report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RAG keeps the AI's answers grounded and traceable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DICOM windowing (lung / mediastinum / bone)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114800"/>
            <a:ext cx="54864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114800"/>
            <a:ext cx="82296" cy="196596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5392" y="4261104"/>
            <a:ext cx="507492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9E8F"/>
                </a:solidFill>
                <a:latin typeface="Calibri"/>
              </a:rPr>
              <a:t>Production-Style Stack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FastAPI + Celery + Redis async inference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Prometheus + OpenTelemetry observability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Docker + GitHub Actions · Gradio 4-tab UI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LIVE DEMO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You'll See in the Screenshare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55648"/>
            <a:ext cx="201168" cy="201168"/>
          </a:xfrm>
          <a:prstGeom prst="ellipse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4592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C4007A"/>
                </a:solidFill>
                <a:latin typeface="Calibri"/>
              </a:rPr>
              <a:t>Report Generation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Upload an X-ray and get a generated radiology report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834640"/>
            <a:ext cx="201168" cy="201168"/>
          </a:xfrm>
          <a:prstGeom prst="ellipse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24912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4B2E83"/>
                </a:solidFill>
                <a:latin typeface="Calibri"/>
              </a:rPr>
              <a:t>Clinical Agent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Ask a clinical question, see the step-by-step reasoning and a grounded answer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913632"/>
            <a:ext cx="201168" cy="201168"/>
          </a:xfrm>
          <a:prstGeom prst="ellipse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803904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09E8F"/>
                </a:solidFill>
                <a:latin typeface="Calibri"/>
              </a:rPr>
              <a:t>Knowledge Base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Add reports, search by meaning, and manage the vector store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992624"/>
            <a:ext cx="201168" cy="201168"/>
          </a:xfrm>
          <a:prstGeom prst="ellipse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82896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E07A00"/>
                </a:solidFill>
                <a:latin typeface="Calibri"/>
              </a:rPr>
              <a:t>System and Telemetry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Live health, Prometheus metrics, OpenTelemetry status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82296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Key Takeaways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E8DEF6"/>
                </a:solidFill>
                <a:latin typeface="Calibri"/>
              </a:rPr>
              <a:t>Clinical NLP unlocks the 80% of health data trapped in text and images.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E8DEF6"/>
                </a:solidFill>
                <a:latin typeface="Calibri"/>
              </a:rPr>
              <a:t>Grounded, multimodal AI with people in the loop is the safe path for payment integrity.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E8DEF6"/>
                </a:solidFill>
                <a:latin typeface="Calibri"/>
              </a:rPr>
              <a:t>The POC proves the full pipeline works, from model to deployable service.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D9C7F0"/>
                </a:solidFill>
                <a:latin typeface="Calibri"/>
              </a:rPr>
              <a:t>Nitish Kumar  ·  San Jose State University  ·  nitish.kumar@sjsu.edu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
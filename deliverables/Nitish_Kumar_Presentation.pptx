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82296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0"/>
            <a:ext cx="3703320" cy="6858000"/>
          </a:xfrm>
          <a:prstGeom prst="rect">
            <a:avLst/>
          </a:prstGeom>
          <a:solidFill>
            <a:srgbClr val="32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0" y="0"/>
            <a:ext cx="82296" cy="685800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COTIVITI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INTERN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749807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Clinical Natural Language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Technology for Health Care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E8DEF6"/>
                </a:solidFill>
                <a:latin typeface="Calibri"/>
              </a:rPr>
              <a:t>Grounding NLP, Computer Vision &amp; Multimodal AI in Radiology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7315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Nitish Kumar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D9C7F0"/>
                </a:solidFill>
                <a:latin typeface="Calibri"/>
              </a:rPr>
              <a:t>San Jose State University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9A6D8"/>
                </a:solidFill>
                <a:latin typeface="Calibri"/>
              </a:rPr>
              <a:t>Topic 1  ·  Report + Proof of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011680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4007A"/>
                </a:solidFill>
                <a:latin typeface="Calibri"/>
              </a:rPr>
              <a:t>POC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Chest X-Ray Report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Generation System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E8DEF6"/>
                </a:solidFill>
                <a:latin typeface="Calibri"/>
              </a:rPr>
              <a:t>DenseNet-121 + Transformer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E8DEF6"/>
                </a:solidFill>
                <a:latin typeface="Calibri"/>
              </a:rPr>
              <a:t>RAG Clinical Agent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E8DEF6"/>
                </a:solidFill>
                <a:latin typeface="Calibri"/>
              </a:rPr>
              <a:t>FastAPI · Gradio ·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THE OPPORTUNITY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80% of Health Data Is Unstructured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Calibri"/>
              </a:rPr>
              <a:t>Clinical value—diagnoses, procedures, and the evidence behind every claim—lives in free-text notes, scanned faxes, and medical images that cannot be directly queried, coded, or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82296" cy="237744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889504"/>
            <a:ext cx="2286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4007A"/>
                </a:solidFill>
                <a:latin typeface="Calibri"/>
              </a:rPr>
              <a:t>Text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Physician notes, discharge summaries, pathology narratives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743200"/>
            <a:ext cx="82296" cy="237744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6744" y="2889504"/>
            <a:ext cx="2286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>Scanned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Faxed orders &amp; referrals digitized via OCR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2743200"/>
            <a:ext cx="82296" cy="237744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889504"/>
            <a:ext cx="2286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9E8F"/>
                </a:solidFill>
                <a:latin typeface="Calibri"/>
              </a:rPr>
              <a:t>Images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X-ray, CT &amp; MRI read by computer vision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27432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2743200"/>
            <a:ext cx="82296" cy="237744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2889504"/>
            <a:ext cx="2286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E07A00"/>
                </a:solidFill>
                <a:latin typeface="Calibri"/>
              </a:rPr>
              <a:t>Codes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The structured ICD / CPT output payment integrity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4B2E83"/>
                </a:solidFill>
                <a:latin typeface="Calibri"/>
              </a:rPr>
              <a:t>Clinical NLP technology turns all four into machine-actionable data—the foundation of coding accuracy, payment integrity, and quality measurement.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TRENDS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Past → Present →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611880" cy="86868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3246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PAST   2000–2017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Rule-Based &amp; Dictionary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82296" cy="310896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60904"/>
            <a:ext cx="32004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cTAKES, MetaMap map text to UMLS / SNOMED / ICD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Hand-crafted patterns &amp; ontologies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Accurate but brittle and costly to maintain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86868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3246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PRESENT   2018–2023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Transformer Transfer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51460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82296" cy="310896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2660904"/>
            <a:ext cx="32004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4007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BioBERT, ClinicalBERT, GatorTron encoders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Expert-level image models: DenseNet, ViT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Strong NER, de-identification, phenotyping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11880" cy="86868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27632"/>
            <a:ext cx="3246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FUTURE   2024 →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Generative &amp; Multimodal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514600"/>
            <a:ext cx="3611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514600"/>
            <a:ext cx="82296" cy="310896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660904"/>
            <a:ext cx="32004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9E8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Clinical LLMs (Med-PaLM 2) &amp; LMMs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One model reads an X-ray, drafts the report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RAG grounds output &amp; controls hallucination</a:t>
            </a:r>
          </a:p>
        </p:txBody>
      </p:sp>
      <p:sp>
        <p:nvSpPr>
          <p:cNvPr id="22" name="Chevron 21"/>
          <p:cNvSpPr/>
          <p:nvPr/>
        </p:nvSpPr>
        <p:spPr>
          <a:xfrm>
            <a:off x="4224528" y="1828800"/>
            <a:ext cx="320040" cy="502920"/>
          </a:xfrm>
          <a:prstGeom prst="chevron">
            <a:avLst/>
          </a:prstGeom>
          <a:solidFill>
            <a:srgbClr val="C9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8019288" y="1828800"/>
            <a:ext cx="320040" cy="502920"/>
          </a:xfrm>
          <a:prstGeom prst="chevron">
            <a:avLst/>
          </a:prstGeom>
          <a:solidFill>
            <a:srgbClr val="C9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ANALYSIS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Opportunities &amp; Threats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448056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00784"/>
            <a:ext cx="5074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9E8F"/>
                </a:solidFill>
                <a:latin typeface="Calibri"/>
              </a:rPr>
              <a:t>OPPORTUNITIES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Automated coding &amp; payment integrity — detect miscoding and documentation gaps at scale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Multimodal report generation — faster radiology / pathology turnaround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Grounded, auditable AI — RAG cites the exact source behind every extraction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Reviewer productivity — automation triages routine cases to focus experts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4864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82296" cy="448056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700784"/>
            <a:ext cx="50749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4007A"/>
                </a:solidFill>
                <a:latin typeface="Calibri"/>
              </a:rPr>
              <a:t>THREATS &amp; RISKS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Hallucination — models can fabricate plausible but false clinical statements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Privacy &amp; compliance — PHI demands HIPAA-grade de-identification &amp; governance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Bias &amp; drift — uneven performance and degradation as coding rules change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Regulation — evolving FDA &amp; payer oversight of clinical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STRATEGY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Recommended Actions for Cotiviti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54480"/>
            <a:ext cx="914400" cy="12344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914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554480"/>
            <a:ext cx="10058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1640" y="1554480"/>
            <a:ext cx="82296" cy="123444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1700784"/>
            <a:ext cx="9646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>Grounded Clinical-NLP Layer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Pair domain-pretrained encoders (ClinicalBERT / GatorTron) with a governed RAG store of coding policies &amp; guidelines, so every AI-generated code is traceable to an authoritative source.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914400" cy="12344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914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2971800"/>
            <a:ext cx="10058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91640" y="2971800"/>
            <a:ext cx="82296" cy="123444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7672" y="3118104"/>
            <a:ext cx="9646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>Multimodal Document Understanding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Combine OCR + NLP + computer vision to reconcile imaging and note evidence against submitted claims—closing gaps single-modality review misses.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389120"/>
            <a:ext cx="914400" cy="1234440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89120"/>
            <a:ext cx="914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389120"/>
            <a:ext cx="10058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91640" y="4389120"/>
            <a:ext cx="82296" cy="123444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4535424"/>
            <a:ext cx="9646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>Human-in-the-Loop MLOps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Versioning, calibration, drift monitoring, and confidence-gated escalation so automation augments expert reviewers and meets the compliance 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PROOF OF CONCEPT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Chest X-Ray Report Generation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A5A"/>
                </a:solidFill>
                <a:latin typeface="Calibri"/>
              </a:rPr>
              <a:t>An end-to-end demonstrator: from a raw X-ray to a narrative report and a grounded, auditable clinical Q&amp;A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084831" cy="13716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18653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X-Ray Input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0EAF8"/>
                </a:solidFill>
                <a:latin typeface="Calibri"/>
              </a:rPr>
              <a:t>JPEG · PNG · DICOM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7" y="2377440"/>
            <a:ext cx="2084831" cy="1371600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5" y="2468880"/>
            <a:ext cx="18653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DenseNet-121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0EAF8"/>
                </a:solidFill>
                <a:latin typeface="Calibri"/>
              </a:rPr>
              <a:t>Vision encoder → 256-d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4" y="2377440"/>
            <a:ext cx="2084831" cy="13716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2" y="2468880"/>
            <a:ext cx="18653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Transformer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0EAF8"/>
                </a:solidFill>
                <a:latin typeface="Calibri"/>
              </a:rPr>
              <a:t>Decoder → report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87181" y="2377440"/>
            <a:ext cx="2084831" cy="137160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09" y="2468880"/>
            <a:ext cx="18653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RAG Agent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0EAF8"/>
                </a:solidFill>
                <a:latin typeface="Calibri"/>
              </a:rPr>
              <a:t>ClinicalBERT + ChromaDB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00028" y="2377440"/>
            <a:ext cx="2084831" cy="1371600"/>
          </a:xfrm>
          <a:prstGeom prst="rect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56" y="2468880"/>
            <a:ext cx="1865375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Clinical Q&amp;A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F0EAF8"/>
                </a:solidFill>
                <a:latin typeface="Calibri"/>
              </a:rPr>
              <a:t>ReAct reasoning trace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82296" cy="196596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261104"/>
            <a:ext cx="50749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4B2E83"/>
                </a:solidFill>
                <a:latin typeface="Calibri"/>
              </a:rPr>
              <a:t>What It Demonstrates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Computer Vision + NLP report generation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RAG makes LLM output grounded &amp; auditable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DICOM windowing (lung / mediastinum / bone)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114800"/>
            <a:ext cx="54864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114800"/>
            <a:ext cx="82296" cy="1965960"/>
          </a:xfrm>
          <a:prstGeom prst="rect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261104"/>
            <a:ext cx="50749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09E8F"/>
                </a:solidFill>
                <a:latin typeface="Calibri"/>
              </a:rPr>
              <a:t>Production-Style Stack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FastAPI + Celery + Redis async inference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Prometheus + OpenTelemetry observability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22222"/>
                </a:solidFill>
                <a:latin typeface="Calibri"/>
              </a:rPr>
              <a:t>Docker + GitHub Actions · Gradio 4-tab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D9C7F0"/>
                </a:solidFill>
                <a:latin typeface="Calibri"/>
              </a:rPr>
              <a:t>LIVE DEMO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You'll See in the Screenshare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Cotiviti Intern Assessment  ·  Nitish Kumar  ·  San Jose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55648"/>
            <a:ext cx="201168" cy="201168"/>
          </a:xfrm>
          <a:prstGeom prst="ellipse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4007A"/>
                </a:solidFill>
                <a:latin typeface="Calibri"/>
              </a:rPr>
              <a:t>Report Generation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Upload an X-ray → model returns a generated radiology report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34640"/>
            <a:ext cx="201168" cy="201168"/>
          </a:xfrm>
          <a:prstGeom prst="ellipse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4B2E83"/>
                </a:solidFill>
                <a:latin typeface="Calibri"/>
              </a:rPr>
              <a:t>Clinical Agent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Ask "What does cardiomegaly indicate?" → ReAct trace + grounded answer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13632"/>
            <a:ext cx="201168" cy="201168"/>
          </a:xfrm>
          <a:prstGeom prst="ellipse">
            <a:avLst/>
          </a:prstGeom>
          <a:solidFill>
            <a:srgbClr val="00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03904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9E8F"/>
                </a:solidFill>
                <a:latin typeface="Calibri"/>
              </a:rPr>
              <a:t>Knowledge Base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Add reports, run semantic search, manage the ChromaDB store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992624"/>
            <a:ext cx="201168" cy="201168"/>
          </a:xfrm>
          <a:prstGeom prst="ellipse">
            <a:avLst/>
          </a:prstGeom>
          <a:solidFill>
            <a:srgbClr val="E0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882896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E07A00"/>
                </a:solidFill>
                <a:latin typeface="Calibri"/>
              </a:rPr>
              <a:t>System &amp; Telemetry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alibri"/>
              </a:rPr>
              <a:t>Live health, Prometheus metrics, OpenTelemetry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B2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82296"/>
          </a:xfrm>
          <a:prstGeom prst="rect">
            <a:avLst/>
          </a:prstGeom>
          <a:solidFill>
            <a:srgbClr val="C40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8DEF6"/>
                </a:solidFill>
                <a:latin typeface="Calibri"/>
              </a:rPr>
              <a:t>Clinical NLP technology unlocks the 80% of health data trapped in text and images.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8DEF6"/>
                </a:solidFill>
                <a:latin typeface="Calibri"/>
              </a:rPr>
              <a:t>Grounded, multimodal, human-in-the-loop AI is the safe path for payment integrity.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8DEF6"/>
                </a:solidFill>
                <a:latin typeface="Calibri"/>
              </a:rPr>
              <a:t>The POC proves the full pipeline end to end—model to deployable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9C7F0"/>
                </a:solidFill>
                <a:latin typeface="Calibri"/>
              </a:rPr>
              <a:t>Nitish Kumar  ·  San Jose State University  ·  nitish.kumar@sjsu.edu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
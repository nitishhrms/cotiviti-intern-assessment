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0"/>
            <a:ext cx="3703320" cy="6858000"/>
          </a:xfrm>
          <a:prstGeom prst="rect">
            <a:avLst/>
          </a:prstGeom>
          <a:solidFill>
            <a:srgbClr val="321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03920" y="0"/>
            <a:ext cx="82296" cy="685800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COTIVITI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INTERN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7498079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Clinical Natural Language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Technology for Health Care</a:t>
            </a:r>
          </a:p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E8DEF6"/>
                </a:solidFill>
                <a:latin typeface="Calibri"/>
              </a:rPr>
              <a:t>Grounding NLP, Computer Vision &amp; Multimodal AI in Radiology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7315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Nitish Kumar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D9C7F0"/>
                </a:solidFill>
                <a:latin typeface="Calibri"/>
              </a:rPr>
              <a:t>San Jose State University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9A6D8"/>
                </a:solidFill>
                <a:latin typeface="Calibri"/>
              </a:rPr>
              <a:t>Topic 1  ·  Report + 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011680"/>
            <a:ext cx="3017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4007A"/>
                </a:solidFill>
                <a:latin typeface="Calibri"/>
              </a:rPr>
              <a:t>POC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Chest X-Ray Report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Generation System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DenseNet-121 + Transformer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RAG Clinical Agent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FastAPI · Gradio · 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THE OPPORTUNITY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80% of Health Data Is Unstructured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A5A"/>
                </a:solidFill>
                <a:latin typeface="Calibri"/>
              </a:rPr>
              <a:t>The details that matter (diagnoses, procedures, and the proof behind every claim) sit in free-text notes, scanned faxes, and images. Computers cannot search, code, or audit them directly.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82296" cy="2377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Text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Physician notes, discharge summaries, pathology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2743200"/>
            <a:ext cx="82296" cy="237744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6744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Scanned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Faxed orders and referrals digitized with OCR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4" y="2743200"/>
            <a:ext cx="82296" cy="237744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Images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X-ray, CT and MRI read by computer 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4856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34856" y="2743200"/>
            <a:ext cx="82296" cy="237744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0888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07A00"/>
                </a:solidFill>
                <a:latin typeface="Calibri"/>
              </a:rPr>
              <a:t>Codes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clean ICD / CPT codes payment integrity 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2E83"/>
                </a:solidFill>
                <a:latin typeface="Calibri"/>
              </a:rPr>
              <a:t>Clinical NLP turns all four into structured data. That is the foundation for accurate coding, payment integrity, and quality measurement.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TRENDS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Past → Present →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6868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PAST   2000-2017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Rules and Word Lists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82296" cy="310896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cTAKES, MetaMap map text to UMLS / SNOMED / ICD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Hand-written rules and medical word lists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Accurate, but fragile and costly to update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86868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PRESENT   2018-2023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Learning from Big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514600"/>
            <a:ext cx="82296" cy="310896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BioBERT, ClinicalBERT, GatorTron models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Image models near expert level: DenseNet, ViT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Good at finding terms and hiding patient IDs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554480"/>
            <a:ext cx="3611880" cy="86868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FUTURE   2024 on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Generative and Multimodal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514600"/>
            <a:ext cx="82296" cy="31089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Clinical LLMs (Med-PaLM 2) and LMMs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One model reads an X-ray and drafts the report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RAG keeps answers grounded, cuts made-up facts</a:t>
            </a:r>
          </a:p>
        </p:txBody>
      </p:sp>
      <p:sp>
        <p:nvSpPr>
          <p:cNvPr id="22" name="Chevron 21"/>
          <p:cNvSpPr/>
          <p:nvPr/>
        </p:nvSpPr>
        <p:spPr>
          <a:xfrm>
            <a:off x="4224528" y="1828800"/>
            <a:ext cx="320040" cy="502920"/>
          </a:xfrm>
          <a:prstGeom prst="chevron">
            <a:avLst/>
          </a:prstGeom>
          <a:solidFill>
            <a:srgbClr val="C9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019288" y="1828800"/>
            <a:ext cx="320040" cy="502920"/>
          </a:xfrm>
          <a:prstGeom prst="chevron">
            <a:avLst/>
          </a:prstGeom>
          <a:solidFill>
            <a:srgbClr val="C9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ANALYSIS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Opportunities &amp; Threats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44805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00784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OPPORTUNITIES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Automated coding: find miscoding and missing documentation at scale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Report drafting from images: faster radiology and pathology turnaround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Traceable AI: RAG shows the exact source behind every answer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More reviewer time: automation handles routine cases so experts focus on the hard 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82296" cy="448056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700784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THREATS AND RISKS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Made-up facts: models can state false things that sound convincing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Privacy: patient data needs HIPAA-grade handling and strict controls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Bias and drift: uneven results, and accuracy drops as coding rules change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Regulation: FDA and payer oversight of clinical AI keeps changing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STRATEGY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Recommended Actions for Cotiviti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5448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55448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91640" y="155448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170078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Grounded Clinical-NLP Layer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Combine medical language models (ClinicalBERT / GatorTron) with a trusted RAG library of coding policies and guidelines, so every AI code links back to an official source.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97180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297180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1640" y="297180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311810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Multimodal Document Understanding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Use OCR, NLP, and computer vision together to check images and notes against submitted claims, catching gaps that text-only review misses.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38912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438912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91640" y="438912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453542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People in the Loop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model versions, watch for drift, and send low-confidence cases to a person, so automation supports expert reviewers and stays compliant.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PROOF OF CONCEPT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Chest X-Ray Report Generation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A5A"/>
                </a:solidFill>
                <a:latin typeface="Calibri"/>
              </a:rPr>
              <a:t>A full working demo: from a raw X-ray to a written report and a grounded clinical Q&amp;A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2084831" cy="13716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X-Ray Input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JPEG · PNG · DICOM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2377440"/>
            <a:ext cx="2084831" cy="137160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5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DenseNet-121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Vision encoder → 256-d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4334" y="2377440"/>
            <a:ext cx="2084831" cy="13716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2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Transformer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Decoder → report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1" y="2377440"/>
            <a:ext cx="2084831" cy="137160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09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RAG Agent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ClinicalBERT + ChromaDB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00028" y="2377440"/>
            <a:ext cx="2084831" cy="137160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56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Clinical Q&amp;A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ReAct reasoning trace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82296" cy="196596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61104"/>
            <a:ext cx="5074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What It Shows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Computer vision plus NLP writes the report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RAG keeps the AI's answers grounded and traceable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DICOM windowing (lung / mediastinum / bone)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1148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82296" cy="19659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4261104"/>
            <a:ext cx="5074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Production-Style Stack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FastAPI + Celery + Redis async inference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Prometheus + OpenTelemetry observability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Docker + GitHub Actions · Gradio 4-tab UI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HOW IT WORKS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System Architecture (High-Level Design)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hl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320" y="1371600"/>
            <a:ext cx="7950247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A5A5A"/>
                </a:solidFill>
                <a:latin typeface="Calibri"/>
              </a:rPr>
              <a:t>Four layers: clients, then FastAPI, then the services (DICOM, model, formatter, async, RAG), then data. Steps 1 to 4 are the report path. Steps 5 and 6 are the agent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THE MODEL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DenseNet-121 Encoder and Transformer Decoder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5A5A"/>
                </a:solidFill>
                <a:latin typeface="Calibri"/>
              </a:rPr>
              <a:t>The image becomes numbers. The numbers become words.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2084831" cy="123444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X-Ray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224 x 224 x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2057400"/>
            <a:ext cx="2084831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5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DenseNet-121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1024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4334" y="2057400"/>
            <a:ext cx="2084831" cy="123444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2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Projection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256 dimensions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1" y="2057400"/>
            <a:ext cx="2084831" cy="123444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09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Transformer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3 layers · 8 heads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00028" y="2057400"/>
            <a:ext cx="2084831" cy="123444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56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Report Text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1,606-word vocab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54864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11880"/>
            <a:ext cx="82296" cy="21488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758184"/>
            <a:ext cx="507492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Why DenseNet-121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Every layer feeds all later layers, so features get reused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Fewer parameters than a plain deep CNN of the same depth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Pretrained on ImageNet, so it converges fast on few X-rays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CheXNet showed this exact backbone matches radiologists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611880"/>
            <a:ext cx="54864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611880"/>
            <a:ext cx="82296" cy="214884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3758184"/>
            <a:ext cx="507492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Honest Numbers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10.4M parameters, trained for 9 epochs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Greedy decoding, one word at a time, until &lt;end&gt;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It writes one short line, so the app adds the sections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This proves the pipeline, not diagnostic accuracy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RAG PIPELINE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Grounding Answers in Retrieved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5A5A"/>
                </a:solidFill>
                <a:latin typeface="Calibri"/>
              </a:rPr>
              <a:t>Retrieval happens first. The answer is built from what was retrieved.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2084831" cy="123444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Question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free 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2057400"/>
            <a:ext cx="2084831" cy="123444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5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ClinicalBERT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768-d embedding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4334" y="2057400"/>
            <a:ext cx="2084831" cy="1234440"/>
          </a:xfrm>
          <a:prstGeom prst="rect">
            <a:avLst/>
          </a:prstGeom>
          <a:solidFill>
            <a:srgbClr val="2F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2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Vector Store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ChromaDB / FAISS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1" y="2057400"/>
            <a:ext cx="2084831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09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Cosine Top-k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closest cases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00028" y="2057400"/>
            <a:ext cx="2084831" cy="123444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56" y="2130552"/>
            <a:ext cx="1865375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FFFFFF"/>
                </a:solidFill>
                <a:latin typeface="Calibri"/>
              </a:rPr>
              <a:t>Grounded Answer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0EAF8"/>
                </a:solidFill>
                <a:latin typeface="Calibri"/>
              </a:rPr>
              <a:t>+ ReAct trace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54864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611880"/>
            <a:ext cx="82296" cy="214884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758184"/>
            <a:ext cx="507492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Why This Matters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model cannot invent a case that is not in the store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Every answer quotes the reports it was built from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ReAct trace shows each step, so a reviewer can check it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This is the audit trail that regulated healthcare needs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611880"/>
            <a:ext cx="548640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611880"/>
            <a:ext cx="82296" cy="2148840"/>
          </a:xfrm>
          <a:prstGeom prst="rect">
            <a:avLst/>
          </a:prstGeom>
          <a:solidFill>
            <a:srgbClr val="2F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3758184"/>
            <a:ext cx="507492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7D74"/>
                </a:solidFill>
                <a:latin typeface="Calibri"/>
              </a:rPr>
              <a:t>Where It Is Stored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ChromaDB is the primary store, with cosine distance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FAISS is the local fallback when ChromaDB is not running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public demo keeps the index in memory to fit free CPU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New reports can be added live from the Knowledge Base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LIVE DEMO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You'll See in the Screenshare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55648"/>
            <a:ext cx="201168" cy="201168"/>
          </a:xfrm>
          <a:prstGeom prst="ellipse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C4007A"/>
                </a:solidFill>
                <a:latin typeface="Calibri"/>
              </a:rPr>
              <a:t>Report Generation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Upload an X-ray and get a generated radiology report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834640"/>
            <a:ext cx="201168" cy="201168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24912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B2E83"/>
                </a:solidFill>
                <a:latin typeface="Calibri"/>
              </a:rPr>
              <a:t>Clinical Agent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Ask a clinical question, see the step-by-step reasoning and a grounded answer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913632"/>
            <a:ext cx="201168" cy="201168"/>
          </a:xfrm>
          <a:prstGeom prst="ellipse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803904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09E8F"/>
                </a:solidFill>
                <a:latin typeface="Calibri"/>
              </a:rPr>
              <a:t>Knowledge Base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Add reports, search by meaning, and manage the vector store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92624"/>
            <a:ext cx="201168" cy="201168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82896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07A00"/>
                </a:solidFill>
                <a:latin typeface="Calibri"/>
              </a:rPr>
              <a:t>About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How the system works, with the educational research disclaimer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Key Takeaways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Clinical NLP unlocks the 80% of health data trapped in text and images.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Grounded, multimodal AI with people in the loop is the safe path for payment integrity.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The POC proves the full pipeline works, from model to deployable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D9C7F0"/>
                </a:solidFill>
                <a:latin typeface="Calibri"/>
              </a:rPr>
              <a:t>Nitish Kumar  ·  San Jose State University  ·  nitish.kumar@sjsu.edu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